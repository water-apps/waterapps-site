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9144000"/>
  <p:defaultTextStyle>
    <a:defPPr/>
    <a:lvl1pPr marL="0" indent="0"/>
    <a:lvl2pPr marL="457200" indent="0"/>
    <a:lvl3pPr marL="914400" indent="0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aterApps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/>
      <a:defRPr sz="2400" b="1"/>
    </p:titleStyle>
    <p:bodyStyle>
      <a:lvl1pPr marL="342900" indent="-171450"/>
      <a:defRPr sz="1100"/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1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1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WaterApps Architecture Showcase</a:t>
            </a:r>
            <a:endParaRPr lang="en-AU" sz="2400" dirty="0"/>
          </a:p>
        </p:txBody>
      </p:sp>
      <p:sp>
        <p:nvSpPr>
          <p:cNvPr id="5" name="Lead 1"/>
          <p:cNvSpPr txBox="1"/>
          <p:nvPr/>
        </p:nvSpPr>
        <p:spPr>
          <a:xfrm>
            <a:off x="621792" y="166420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1160" dirty="0" smtClean="0">
                <a:solidFill>
                  <a:srgbClr val="32526B"/>
                </a:solidFill>
                <a:latin typeface="Aptos"/>
              </a:rPr>
              <a:t>Practical, secure, and cost-aware architecture for modern products and platforms.</a:t>
            </a:r>
            <a:endParaRPr lang="en-AU" sz="1160" dirty="0"/>
          </a:p>
        </p:txBody>
      </p:sp>
      <p:sp>
        <p:nvSpPr>
          <p:cNvPr id="6" name="Body 1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Reference patterns for SaaS, internal tools, and regulated delivery environments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Design approach focused on reuse, delivery speed, and operational confidence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Showcase version for client and partner conversations</a:t>
            </a:r>
            <a:endParaRPr lang="en-AU" sz="1040" dirty="0"/>
          </a:p>
        </p:txBody>
      </p:sp>
      <p:sp>
        <p:nvSpPr>
          <p:cNvPr id="7" name="Footer 1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1</a:t>
            </a:r>
            <a:endParaRPr lang="en-AU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2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2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What Clients Need From Architecture</a:t>
            </a:r>
            <a:endParaRPr lang="en-AU" sz="2400" dirty="0"/>
          </a:p>
        </p:txBody>
      </p:sp>
      <p:sp>
        <p:nvSpPr>
          <p:cNvPr id="6" name="Body 2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Faster delivery without one-off rebuilds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Secure foundations with audit-ready delivery controls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A clear path from MVP to enterprise scale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Cost discipline from day one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The ability to grow without a rewrite</a:t>
            </a:r>
            <a:endParaRPr lang="en-AU" sz="1040" dirty="0"/>
          </a:p>
        </p:txBody>
      </p:sp>
      <p:sp>
        <p:nvSpPr>
          <p:cNvPr id="7" name="Footer 2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2</a:t>
            </a:r>
            <a:endParaRPr lang="en-AU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3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3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WaterApps Reference Architecture</a:t>
            </a:r>
            <a:endParaRPr lang="en-AU" sz="2400" dirty="0"/>
          </a:p>
        </p:txBody>
      </p:sp>
      <p:sp>
        <p:nvSpPr>
          <p:cNvPr id="6" name="Body 3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Experience layer: React, Next.js, or static edge frontend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API layer: clear service boundaries using FastAPI or equivalent runtimes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Data layer: PostgreSQL as the main system of record for business workflows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Event and document layer: DynamoDB or Cosmos DB when workload shape justifies it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Async layer: queues, schedulers, and workers for retries, reminders, and integrations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Platform layer: Terraform, reusable CI/CD, secrets, monitoring, and runbooks</a:t>
            </a:r>
            <a:endParaRPr lang="en-AU" sz="1040" dirty="0"/>
          </a:p>
        </p:txBody>
      </p:sp>
      <p:sp>
        <p:nvSpPr>
          <p:cNvPr id="7" name="Footer 3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3</a:t>
            </a:r>
            <a:endParaRPr lang="en-AU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4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4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Reusable Service Building Blocks</a:t>
            </a:r>
            <a:endParaRPr lang="en-AU" sz="2400" dirty="0"/>
          </a:p>
        </p:txBody>
      </p:sp>
      <p:sp>
        <p:nvSpPr>
          <p:cNvPr id="6" name="Body 4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Auth and access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Tenant configuration and feature policy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Notifications and reminder delivery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Workflow and background jobs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Audit events and operational history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Structured logging and observability</a:t>
            </a:r>
            <a:endParaRPr lang="en-AU" sz="1040" dirty="0"/>
          </a:p>
        </p:txBody>
      </p:sp>
      <p:sp>
        <p:nvSpPr>
          <p:cNvPr id="7" name="Footer 4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4</a:t>
            </a:r>
            <a:endParaRPr lang="en-AU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5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5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Security And Operations By Default</a:t>
            </a:r>
            <a:endParaRPr lang="en-AU" sz="2400" dirty="0"/>
          </a:p>
        </p:txBody>
      </p:sp>
      <p:sp>
        <p:nvSpPr>
          <p:cNvPr id="6" name="Body 5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GitHub OIDC and infrastructure as code for controlled delivery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Structured logs with correlation IDs and tenant-aware context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Secrets stored outside code with least-privilege runtime access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Health checks, rollback paths, and incident runbooks built in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Monitoring and alert patterns aligned to real product behavior</a:t>
            </a:r>
            <a:endParaRPr lang="en-AU" sz="1040" dirty="0"/>
          </a:p>
        </p:txBody>
      </p:sp>
      <p:sp>
        <p:nvSpPr>
          <p:cNvPr id="7" name="Footer 5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5</a:t>
            </a:r>
            <a:endParaRPr lang="en-AU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6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6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Cost-Effective Scaling Path</a:t>
            </a:r>
            <a:endParaRPr lang="en-AU" sz="2400" dirty="0"/>
          </a:p>
        </p:txBody>
      </p:sp>
      <p:sp>
        <p:nvSpPr>
          <p:cNvPr id="6" name="Body 6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Start with the lightest sensible architecture that still gives a great base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Prefer one stateless service and one clear system of record at the start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Use serverless or lightweight hosting for low-volume workloads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Add queues and workers as integrations, retries, and background work appear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Promote shared services only when the pattern is proven across products</a:t>
            </a:r>
            <a:endParaRPr lang="en-AU" sz="1040" dirty="0"/>
          </a:p>
        </p:txBody>
      </p:sp>
      <p:sp>
        <p:nvSpPr>
          <p:cNvPr id="7" name="Footer 6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6</a:t>
            </a:r>
            <a:endParaRPr lang="en-AU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7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7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Proof In The Current WaterApps Portfolio</a:t>
            </a:r>
            <a:endParaRPr lang="en-AU" sz="2400" dirty="0"/>
          </a:p>
        </p:txBody>
      </p:sp>
      <p:sp>
        <p:nvSpPr>
          <p:cNvPr id="6" name="Body 7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`waterapps-site` for public trust, positioning, and conversion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`waterapps-contact-form` for secure, low-cost serverless intake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`waterapps-schedulease` for multi-tenant SaaS productization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`waterapps-20-infra-enterprise` for hosting, security, and monitoring foundations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Shared workflow and logging standards reduce duplicated engineering effort</a:t>
            </a:r>
            <a:endParaRPr lang="en-AU" sz="1040" dirty="0"/>
          </a:p>
        </p:txBody>
      </p:sp>
      <p:sp>
        <p:nvSpPr>
          <p:cNvPr id="7" name="Footer 7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7</a:t>
            </a:r>
            <a:endParaRPr lang="en-AU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8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8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Why This Approach Works</a:t>
            </a:r>
            <a:endParaRPr lang="en-AU" sz="2400" dirty="0"/>
          </a:p>
        </p:txBody>
      </p:sp>
      <p:sp>
        <p:nvSpPr>
          <p:cNvPr id="6" name="Body 8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Less code through reusable patterns and shared modules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Faster onboarding for new products and clients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Better operations because every product starts from the same strong base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Flexibility across AWS and Azure delivery paths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Stronger buyer confidence through visible architecture discipline</a:t>
            </a:r>
            <a:endParaRPr lang="en-AU" sz="1040" dirty="0"/>
          </a:p>
        </p:txBody>
      </p:sp>
      <p:sp>
        <p:nvSpPr>
          <p:cNvPr id="7" name="Footer 8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8</a:t>
            </a:r>
            <a:endParaRPr lang="en-AU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</p:sp>
      <p:sp>
        <p:nvSpPr>
          <p:cNvPr id="3" name="Accent Bar 9"/>
          <p:cNvSpPr/>
          <p:nvPr/>
        </p:nvSpPr>
        <p:spPr>
          <a:xfrm>
            <a:off x="621792" y="1426464"/>
            <a:ext cx="1051560" cy="73152"/>
          </a:xfrm>
          <a:prstGeom prst="rect">
            <a:avLst/>
          </a:prstGeom>
          <a:solidFill>
            <a:srgbClr val="2AA7C9"/>
          </a:solidFill>
          <a:ln>
            <a:noFill/>
          </a:ln>
        </p:spPr>
      </p:sp>
      <p:sp>
        <p:nvSpPr>
          <p:cNvPr id="4" name="Title 9"/>
          <p:cNvSpPr txBox="1"/>
          <p:nvPr/>
        </p:nvSpPr>
        <p:spPr>
          <a:xfrm>
            <a:off x="621792" y="685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2400" b="1" dirty="0" smtClean="0">
                <a:solidFill>
                  <a:srgbClr val="0B2E59"/>
                </a:solidFill>
                <a:latin typeface="Aptos Display"/>
              </a:rPr>
              <a:t>Next Step With WaterApps</a:t>
            </a:r>
            <a:endParaRPr lang="en-AU" sz="2400" dirty="0"/>
          </a:p>
        </p:txBody>
      </p:sp>
      <p:sp>
        <p:nvSpPr>
          <p:cNvPr id="6" name="Body 9"/>
          <p:cNvSpPr txBox="1"/>
          <p:nvPr/>
        </p:nvSpPr>
        <p:spPr>
          <a:xfrm>
            <a:off x="841248" y="2240280"/>
            <a:ext cx="10424160" cy="3566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Discovery and architecture assessment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Tailored target-state design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Cost, risk, and delivery roadmap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Implementation using proven WaterApps patterns</a:t>
            </a:r>
            <a:endParaRPr lang="en-AU" sz="1040" dirty="0"/>
          </a:p>
          <a:p>
            <a:pPr marL="342900" indent="-171450">
              <a:buChar char="•"/>
            </a:pPr>
            <a:r>
              <a:rPr lang="en-AU" sz="1040" dirty="0" smtClean="0">
                <a:solidFill>
                  <a:srgbClr val="16324F"/>
                </a:solidFill>
                <a:latin typeface="Aptos"/>
              </a:rPr>
              <a:t>Operational uplift as the platform and product grow</a:t>
            </a:r>
            <a:endParaRPr lang="en-AU" sz="1040" dirty="0"/>
          </a:p>
        </p:txBody>
      </p:sp>
      <p:sp>
        <p:nvSpPr>
          <p:cNvPr id="7" name="Footer 9"/>
          <p:cNvSpPr txBox="1"/>
          <p:nvPr/>
        </p:nvSpPr>
        <p:spPr>
          <a:xfrm>
            <a:off x="621792" y="63093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marL="0" indent="0">
              <a:buNone/>
            </a:pPr>
            <a:r>
              <a:rPr lang="en-AU" sz="700" dirty="0" smtClean="0">
                <a:solidFill>
                  <a:srgbClr val="5C7287"/>
                </a:solidFill>
                <a:latin typeface="Aptos"/>
              </a:rPr>
              <a:t>WaterApps | Architecture Showcase | 9</a:t>
            </a:r>
            <a:endParaRPr lang="en-AU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Apps Theme">
  <a:themeElements>
    <a:clrScheme name="WaterApps">
      <a:dk1>
        <a:srgbClr val="0B2E59"/>
      </a:dk1>
      <a:lt1>
        <a:srgbClr val="FFFFFF"/>
      </a:lt1>
      <a:dk2>
        <a:srgbClr val="16324F"/>
      </a:dk2>
      <a:lt2>
        <a:srgbClr val="F5F8FB"/>
      </a:lt2>
      <a:accent1>
        <a:srgbClr val="2AA7C9"/>
      </a:accent1>
      <a:accent2>
        <a:srgbClr val="20C997"/>
      </a:accent2>
      <a:accent3>
        <a:srgbClr val="86BBD8"/>
      </a:accent3>
      <a:accent4>
        <a:srgbClr val="F3A712"/>
      </a:accent4>
      <a:accent5>
        <a:srgbClr val="D62828"/>
      </a:accent5>
      <a:accent6>
        <a:srgbClr val="5C7287"/>
      </a:accent6>
      <a:hlink>
        <a:srgbClr val="0563C1"/>
      </a:hlink>
      <a:folHlink>
        <a:srgbClr val="954F72"/>
      </a:folHlink>
    </a:clrScheme>
    <a:fontScheme name="WaterApps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WaterApps Format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  <a:prstDash val="solid"/>
        </a:ln>
        <a:ln w="25400">
          <a:solidFill>
            <a:schemeClr val="accent1"/>
          </a:solidFill>
          <a:prstDash val="solid"/>
        </a:ln>
        <a:ln w="3810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9</vt:i4>
      </vt:variant>
    </vt:vector>
  </HeadingPairs>
  <TitlesOfParts>
    <vt:vector size="9" baseType="lpstr">
      <vt:lpstr>WaterApps Architecture Showcase</vt:lpstr>
      <vt:lpstr>What Clients Need From Architecture</vt:lpstr>
      <vt:lpstr>WaterApps Reference Architecture</vt:lpstr>
      <vt:lpstr>Reusable Service Building Blocks</vt:lpstr>
      <vt:lpstr>Security And Operations By Default</vt:lpstr>
      <vt:lpstr>Cost-Effective Scaling Path</vt:lpstr>
      <vt:lpstr>Proof In The Current WaterApps Portfolio</vt:lpstr>
      <vt:lpstr>Why This Approach Works</vt:lpstr>
      <vt:lpstr>Next Step With WaterApps</vt:lpstr>
    </vt:vector>
  </TitlesOfParts>
  <Company>WaterApps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WaterApps Architecture Showcase</dc:title>
  <dc:subject>Client-ready architecture showcase</dc:subject>
  <dc:creator>Codex for WaterApps</dc:creator>
  <cp:keywords>WaterApps, architecture, showcase, client</cp:keywords>
  <dc:description>Client-ready overview of WaterApps reference architecture and delivery approach.</dc:description>
  <cp:lastModifiedBy>Codex for WaterApps</cp:lastModifiedBy>
  <dcterms:created xsi:type="dcterms:W3CDTF">2026-03-21T07:25:07Z</dcterms:created>
  <dcterms:modified xsi:type="dcterms:W3CDTF">2026-03-21T07:25:07Z</dcterms:modified>
</cp:coreProperties>
</file>